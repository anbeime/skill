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6" r:id="rId10"/>
    <p:sldId id="263" r:id="rId11"/>
    <p:sldId id="277" r:id="rId12"/>
    <p:sldId id="264" r:id="rId13"/>
    <p:sldId id="265" r:id="rId14"/>
    <p:sldId id="266" r:id="rId15"/>
    <p:sldId id="278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25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25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560320" cy="2560320"/>
          </a:xfrm>
          <a:prstGeom prst="ellipse">
            <a:avLst/>
          </a:prstGeom>
          <a:solidFill>
            <a:srgbClr val="37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6B35"/>
                </a:solidFill>
                <a:latin typeface="微软雅黑" panose="020B0503020204020204" charset="-122"/>
              </a:rPr>
              <a:t>GOAI 世界人工智能开源大赛</a:t>
            </a:r>
            <a:endParaRPr lang="zh-CN" sz="16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5400" b="1" i="0">
                <a:solidFill>
                  <a:srgbClr val="FFFFFF"/>
                </a:solidFill>
                <a:latin typeface="微软雅黑" panose="020B0503020204020204" charset="-122"/>
              </a:rPr>
              <a:t>Antinet·八官署</a:t>
            </a:r>
            <a:endParaRPr lang="zh-CN" sz="5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800" b="0" i="0">
                <a:solidFill>
                  <a:srgbClr val="FFFFFF"/>
                </a:solidFill>
                <a:latin typeface="微软雅黑" panose="020B0503020204020204" charset="-122"/>
              </a:rPr>
              <a:t>多 AI 知识库中间层</a:t>
            </a:r>
            <a:endParaRPr lang="zh-CN" sz="280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800" b="0" i="0">
                <a:solidFill>
                  <a:srgbClr val="B4B9CD"/>
                </a:solidFill>
                <a:latin typeface="微软雅黑" panose="020B0503020204020204" charset="-122"/>
              </a:rPr>
              <a:t>软件研发全流程协同 · Agent Infra 新智基座 · 方向三</a:t>
            </a:r>
            <a:endParaRPr lang="zh-CN" sz="1800" b="0" i="0">
              <a:solidFill>
                <a:srgbClr val="B4B9C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A0A5B9"/>
                </a:solidFill>
                <a:latin typeface="微软雅黑" panose="020B0503020204020204" charset="-122"/>
              </a:rPr>
              <a:t>Antinet·八官署 — 面向复杂知识任务的多智能体基础设施</a:t>
            </a:r>
            <a:endParaRPr lang="zh-CN" sz="900" b="0" i="0">
              <a:solidFill>
                <a:srgbClr val="A0A5B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P0 · 一页纸速览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作品简介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67335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3677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项目名称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Antinet·八官署：多 AI 知识库中间层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25112" y="167335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3677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问题与场景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5112" y="201168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研发团队在缺陷/需求/日志/反馈中识别根因并产出可验证修复方案；传统单 Agent 把聚合/定位/修复/验证混在一起，难审计、难降级、难复现。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63840" y="150876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28432" y="167335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3677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核心解决方案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28432" y="201168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以「明朝内阁」治理体系映射为八官署多智能体框架；四色卡片结构化传递上下文；太史阁先读后写，实现知识复利。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" y="405079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142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创新点与差异化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438912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① 可溯源四色卡片 ② AgentTeams 协同基点 ③ 4 核心 + 规划 11 热插拔 Skill ④ 记忆+共享状态+可观测 ⑤ 熔断降级不崩盘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60520" y="388620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25112" y="405079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0142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开放 / 复用价值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5112" y="438912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Apache 2.0 开源；能力可迁移至企业 AI 编码合规审计、跨工具创意生产、智能客服知识自演化、个性化学习教育陪练。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63840" y="3886200"/>
            <a:ext cx="3429000" cy="21488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8432" y="405079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0142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当前进展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28432" y="4389120"/>
            <a:ext cx="30998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八署串连通跑，verify_production.py PASS；已接入真实本地 NPU（Genie qwen2.5vl3b）；Agent Identity / Skill 体系 / AgentTeams 映射文档齐备。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840480" cy="3840480"/>
          </a:xfrm>
          <a:prstGeom prst="ellipse">
            <a:avLst/>
          </a:prstGeom>
          <a:solidFill>
            <a:srgbClr val="25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25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600" b="1" i="0">
                <a:solidFill>
                  <a:srgbClr val="FFFFFF"/>
                </a:solidFill>
                <a:latin typeface="微软雅黑" panose="020B0503020204020204" charset="-122"/>
              </a:rPr>
              <a:t>目录</a:t>
            </a:r>
            <a:endParaRPr lang="zh-CN" sz="3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1664208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场景与价值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088" y="1664208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22592" y="1664208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方案总览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2414015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523743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23743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2523743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多 Agent 协同设计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2414015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2523743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23743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22592" y="2523743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Skills 工具体系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3273552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3383280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383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53312" y="3383280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工程落地、运行验证与安全可审计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60" y="3273552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3383280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83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22592" y="3383280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开源开放计划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4133087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242815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242815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53312" y="4242815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落地计划与进展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09360" y="4133087"/>
            <a:ext cx="5120640" cy="658368"/>
          </a:xfrm>
          <a:prstGeom prst="roundRect">
            <a:avLst/>
          </a:prstGeom>
          <a:solidFill>
            <a:srgbClr val="2D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19088" y="4242815"/>
            <a:ext cx="438912" cy="43891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242815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22592" y="4242815"/>
            <a:ext cx="4206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Demo 视频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A0A5B9"/>
                </a:solidFill>
                <a:latin typeface="微软雅黑" panose="020B0503020204020204" charset="-122"/>
              </a:rPr>
              <a:t>八章结构对齐 Agent Infra 初赛评分维度</a:t>
            </a:r>
            <a:endParaRPr lang="zh-CN" sz="900" b="0" i="0">
              <a:solidFill>
                <a:srgbClr val="A0A5B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第一章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场景与价值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场景价值与行业可复制性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25%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第一章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场景与价值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目标用户、核心痛点、方向三实例化与行业可复制性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目标用户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：开发者与研发团队，需从 Issue / 日志 / 用户反馈中快速定位根因并产出可验证修复。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真实痛点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：信息分散、根因定位靠经验、修复方案难审计、复盘知识随人走、单 Agent 把多阶段任务混在一起。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方向三实例化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：缺陷/需求聚合 → 代码根因定位 → 修复生成与执行 → 测试/发布确认 → 上线复盘与知识沉淀。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行业可复制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：四色卡片作为通用知识格式，同样适用于金融风控、客服复盘、运维复盘、材料研发。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差异化定位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：不是单 Agent Demo，而是让多个 AI 围绕同一份结构化知识协同的「知识库中间层」。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2423160" cy="1143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38528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企业 AI 编码合规审计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67728" y="2359152"/>
            <a:ext cx="2203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000" b="0" i="0">
                <a:solidFill>
                  <a:srgbClr val="5A5F73"/>
                </a:solidFill>
                <a:latin typeface="微软雅黑" panose="020B0503020204020204" charset="-122"/>
              </a:rPr>
              <a:t>Secrets 出域防控、改动审计</a:t>
            </a:r>
            <a:endParaRPr lang="zh-CN" sz="10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482328" y="1828800"/>
            <a:ext cx="2423160" cy="1143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92056" y="1938528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跨工具创意生产管线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92056" y="2359152"/>
            <a:ext cx="2203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000" b="0" i="0">
                <a:solidFill>
                  <a:srgbClr val="5A5F73"/>
                </a:solidFill>
                <a:latin typeface="微软雅黑" panose="020B0503020204020204" charset="-122"/>
              </a:rPr>
              <a:t>素材/版本/决策集中管理</a:t>
            </a:r>
            <a:endParaRPr lang="zh-CN" sz="10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0" y="3172968"/>
            <a:ext cx="2423160" cy="1143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282696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智能客服知识自演化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67728" y="3703320"/>
            <a:ext cx="2203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000" b="0" i="0">
                <a:solidFill>
                  <a:srgbClr val="5A5F73"/>
                </a:solidFill>
                <a:latin typeface="微软雅黑" panose="020B0503020204020204" charset="-122"/>
              </a:rPr>
              <a:t>从静态文档到带溯源自活体</a:t>
            </a:r>
            <a:endParaRPr lang="zh-CN" sz="10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82328" y="3172968"/>
            <a:ext cx="2423160" cy="1143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92056" y="3282696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个性化学习教育陪练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92056" y="3703320"/>
            <a:ext cx="2203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000" b="0" i="0">
                <a:solidFill>
                  <a:srgbClr val="5A5F73"/>
                </a:solidFill>
                <a:latin typeface="微软雅黑" panose="020B0503020204020204" charset="-122"/>
              </a:rPr>
              <a:t>错点追踪与可解释学习路径</a:t>
            </a:r>
            <a:endParaRPr lang="zh-CN" sz="10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四个真实付费场景证明底座可跨行业复用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第二章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方案总览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端到端方案与关键技术选型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—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pic>
        <p:nvPicPr>
          <p:cNvPr id="11" name="图片 10" descr="antinet_agentteams_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485" y="1386840"/>
            <a:ext cx="7913370" cy="5123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第二章 · 承上启下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方案总览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端到端架构与主流程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206240" cy="45720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FFFFFF"/>
                </a:solidFill>
                <a:latin typeface="微软雅黑" panose="020B0503020204020204" charset="-122"/>
              </a:rPr>
              <a:t>用户 / 客户入口</a:t>
            </a:r>
            <a:endParaRPr lang="zh-CN"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840" y="182880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FFFFFF"/>
                </a:solidFill>
                <a:latin typeface="微软雅黑" panose="020B0503020204020204" charset="-122"/>
              </a:rPr>
              <a:t>缺陷、需求、告警、日志、反馈</a:t>
            </a:r>
            <a:endParaRPr lang="zh-CN" sz="100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350008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指挥使 · 编排层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8840" y="235000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意图识别、任务拆解、异常熔断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871216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6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锦衣卫 · 安检层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8840" y="2871216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合规扫描、防假全文、密钥检测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392424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4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密卷房 · 解析层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8840" y="339242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多格式解析与 OCR 三级 fallback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913632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通政司 · 事实层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8840" y="3913632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事实抽取 → 蓝卡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监察院 · 审计层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8840" y="443484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逻辑审查、Gap → 绿卡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956048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56048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丞相府 · 策略层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8840" y="495604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构效假说与行动建议 → 红卡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5477256"/>
            <a:ext cx="4206240" cy="457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77256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1A1F3A"/>
                </a:solidFill>
                <a:latin typeface="微软雅黑" panose="020B0503020204020204" charset="-122"/>
              </a:rPr>
              <a:t>军机处 · 执行层</a:t>
            </a:r>
            <a:endParaRPr lang="zh-CN" sz="11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8840" y="5477256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1A1F3A"/>
                </a:solidFill>
                <a:latin typeface="微软雅黑" panose="020B0503020204020204" charset="-122"/>
              </a:rPr>
              <a:t>核验、产物落盘、报告生成</a:t>
            </a:r>
            <a:endParaRPr lang="zh-CN" sz="10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5998464"/>
            <a:ext cx="4206240" cy="45720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998464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1" i="0">
                <a:solidFill>
                  <a:srgbClr val="FFFFFF"/>
                </a:solidFill>
                <a:latin typeface="微软雅黑" panose="020B0503020204020204" charset="-122"/>
              </a:rPr>
              <a:t>太史阁 · 记忆层</a:t>
            </a:r>
            <a:endParaRPr lang="zh-CN"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48840" y="599846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0" i="0">
                <a:solidFill>
                  <a:srgbClr val="FFFFFF"/>
                </a:solidFill>
                <a:latin typeface="微软雅黑" panose="020B0503020204020204" charset="-122"/>
              </a:rPr>
              <a:t>长期记忆、检索、知识回流、provenance</a:t>
            </a:r>
            <a:endParaRPr lang="zh-CN" sz="100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20640" y="1828800"/>
            <a:ext cx="6400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职责隔离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：8 个具名 Agent 各司其职，每个环节可独立验证、独立降级。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四色卡片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：蓝事实 / 绿解释 / 黄风险 / 红行动，作为多 AI 间唯一结构化上下文介质。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记忆总线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：太史阁「先读库再干活、后写库做沉淀」，每次任务都在复用与增值知识。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设计基点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：以 AgentTeams 角色模型为协同基点，后续迁移只需协议适配。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八署 + 四色卡片 + 记忆总线 = 可审计的多 AI 知识中间层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65" y="0"/>
            <a:ext cx="1016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第三章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多 Agent 协同设计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多 Agent 协同与自主闭环能力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25%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0"/>
            <a:ext cx="114109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第三章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多 Agent 协同设计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Agent 角色编排、任务拆解、上下文传递、协同执行、状态追踪、异常处理与安全边界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指挥使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编排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83664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83664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锦衣卫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3664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安检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18104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64408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密卷房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64408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解析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8848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45152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通政司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5152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蓝卡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79592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25896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监察院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25896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绿卡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60336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06640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丞相府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6640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红卡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87384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87384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军机处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87384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核验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21824" y="2039112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0" i="0">
                <a:solidFill>
                  <a:srgbClr val="5A5F73"/>
                </a:solidFill>
                <a:latin typeface="微软雅黑" panose="020B0503020204020204" charset="-122"/>
              </a:rPr>
              <a:t>→</a:t>
            </a:r>
            <a:endParaRPr lang="zh-CN" sz="18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168128" y="1783080"/>
            <a:ext cx="1234440" cy="7772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185623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太史阁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168128" y="2194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100" b="0" i="0">
                <a:solidFill>
                  <a:srgbClr val="FF6B35"/>
                </a:solidFill>
                <a:latin typeface="微软雅黑" panose="020B0503020204020204" charset="-122"/>
              </a:rPr>
              <a:t>记忆</a:t>
            </a:r>
            <a:endParaRPr lang="zh-CN" sz="11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283464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角色编排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：8 个具名 Agent，身份、能力边界与协同关系见《Agent Identity 清单》（附录 A）。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任务拆解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：指挥使状态机将用户主题拆为检索 / 解析 / 抽取 / 审查 / 假说 / 核验 / 回流子任务。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上下文传递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：四色卡片 cite 链实现传递；每署只接收上游卡片，不读原始噪声。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异常与冲突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：任一官署失败即触发指挥使熔断与规则引擎降级，大模型掉线/解析失败不崩盘。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安全边界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：锦衣卫是唯一出域审批方；高风险动作（发布/合并）由指挥使状态机执行审批 / 回滚 / 审计。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多 Agent 协同以职责隔离与状态可见为核心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第四章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Skill 工程体系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Skill 工程体系与生态复用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25%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第四章 · 本赛题必选项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Skill 工程体系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4 核心 + 规划 11 个 Skill 与完整规格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606040" cy="155448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92808"/>
            <a:ext cx="2386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1A1F3A"/>
                </a:solidFill>
                <a:latin typeface="微软雅黑" panose="020B0503020204020204" charset="-122"/>
              </a:rPr>
              <a:t>抽取类</a:t>
            </a:r>
            <a:endParaRPr lang="zh-CN" sz="1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258568"/>
            <a:ext cx="23865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 i="0">
                <a:solidFill>
                  <a:srgbClr val="5A5F73"/>
                </a:solidFill>
                <a:latin typeface="微软雅黑" panose="020B0503020204020204" charset="-122"/>
              </a:rPr>
              <a:t>four_color_cards
markdown_converter
local_audio_processor</a:t>
            </a:r>
            <a:endParaRPr lang="zh-CN" sz="11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10712" y="1783080"/>
            <a:ext cx="2606040" cy="155448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92808"/>
            <a:ext cx="2386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1A1F3A"/>
                </a:solidFill>
                <a:latin typeface="微软雅黑" panose="020B0503020204020204" charset="-122"/>
              </a:rPr>
              <a:t>知识类</a:t>
            </a:r>
            <a:endParaRPr lang="zh-CN" sz="1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0440" y="2258568"/>
            <a:ext cx="23865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 i="0">
                <a:solidFill>
                  <a:srgbClr val="5A5F73"/>
                </a:solidFill>
                <a:latin typeface="微软雅黑" panose="020B0503020204020204" charset="-122"/>
              </a:rPr>
              <a:t>knowledge_graph
book_skill
view_manager</a:t>
            </a:r>
            <a:endParaRPr lang="zh-CN" sz="11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72783" y="1783080"/>
            <a:ext cx="2606040" cy="155448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1" y="1892808"/>
            <a:ext cx="2386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1A1F3A"/>
                </a:solidFill>
                <a:latin typeface="微软雅黑" panose="020B0503020204020204" charset="-122"/>
              </a:rPr>
              <a:t>展示类</a:t>
            </a:r>
            <a:endParaRPr lang="zh-CN" sz="1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1" y="2258568"/>
            <a:ext cx="23865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 i="0">
                <a:solidFill>
                  <a:srgbClr val="5A5F73"/>
                </a:solidFill>
                <a:latin typeface="微软雅黑" panose="020B0503020204020204" charset="-122"/>
              </a:rPr>
              <a:t>infographic
html_report
report_automation
ppt_structure_draft
chart_recommendation</a:t>
            </a:r>
            <a:endParaRPr lang="zh-CN" sz="11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34856" y="1783080"/>
            <a:ext cx="2606040" cy="155448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892808"/>
            <a:ext cx="2386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1A1F3A"/>
                </a:solidFill>
                <a:latin typeface="微软雅黑" panose="020B0503020204020204" charset="-122"/>
              </a:rPr>
              <a:t>治理类</a:t>
            </a:r>
            <a:endParaRPr lang="zh-CN" sz="1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44584" y="2258568"/>
            <a:ext cx="23865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 i="0">
                <a:solidFill>
                  <a:srgbClr val="5A5F73"/>
                </a:solidFill>
                <a:latin typeface="微软雅黑" panose="020B0503020204020204" charset="-122"/>
              </a:rPr>
              <a:t>card_filter
markdown_formatter
invoice_skill</a:t>
            </a:r>
            <a:endParaRPr lang="zh-CN" sz="11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10972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单个 Skill 规格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：名称 / 用途 / 输入输出 / 调用条件 / 依赖工具 / 失败处理 / 安全边界 / 复用价值 / 与协同流程的关系。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复用与生命周期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：统一 Skill 基类（name/description/category/parameters_schema/execute），支持热插拔、版本化、失败降级。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生态对接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：核心抽象层与 github.com/anbeime/skill 公开技能商店接口对齐，迁移到新运行时只需协议适配。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赛道要求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：Skill 是必选项；本方案 4 核心 Skill 已落地（规划共 15 个），可独立部署，亦可被外部 Agent 复用。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Skill 是能力抽象层，而非一次性行为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0"/>
            <a:ext cx="11396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第五章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工程落地、运行验证与安全可审计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工程落地与安全可审计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20%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第五章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工程落地、运行验证与安全可审计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可运行性、运行证据、可观测与安全治理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12344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可运行性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python scripts/run_survey.py 主链路跑通
verify_production.py 输出 consistency:PASS，退出码 0
可接入 CI 幂等重跑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12344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运行证据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verify_report.json：parsed_oa_ratio 7/10
provenance/knowledge.md 全链路回放
四色卡片样例可审计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5394960" cy="12344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0156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可观测 / 检索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太史阁 = 记忆存储 + 共享状态管理
provenance 日志 = Trace / Log / Metrics
超额满足 2/4 项要求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394960" cy="123444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40156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1A1F3A"/>
                </a:solidFill>
                <a:latin typeface="微软雅黑" panose="020B0503020204020204" charset="-122"/>
              </a:rPr>
              <a:t>安全治理</a:t>
            </a:r>
            <a:endParaRPr lang="zh-CN" sz="15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3749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默认本地 NPU，数据不出域
锦衣卫合规扫描 + 密钥检测
指挥使状态机审批 / 回滚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300" b="1" i="0">
                <a:solidFill>
                  <a:srgbClr val="1A1F3A"/>
                </a:solidFill>
                <a:latin typeface="微软雅黑" panose="020B0503020204020204" charset="-122"/>
              </a:rPr>
              <a:t>云产品选型边界：Nacos / Higress / PolarDB / RocketMQ / LoongSuite 均可等价替换，迁移成本已在映射文档中逐条论证。</a:t>
            </a:r>
            <a:endParaRPr lang="zh-CN" sz="13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诚实披露现状：初赛为方案设计，完整代码仓库接入将于复赛落地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第六章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开放 / 开源计划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开放 / 开源贡献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5%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第六章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开放 / 开源计划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可复用成果、接口契约与开源协议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949440" cy="3130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开源协议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：Apache 2.0；本方案 materials-agent/ 仓库结构公开。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可复用成果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：四色卡片开放格式、八署编排运行时、4 核心 + 规划 11 Skill 抽象层、provenance 日志格式。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接口契约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：等价外部工具集成契约（协议 / 鉴权 / Schema / 错误 / 审计 / 迁移成本），不使用 MCP 也给出等价方案。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文档与示例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：Agent Identity 清单、AgentTeams 映射文档、Skill 工程体系说明、DEPENDENCIES.md 第三方依赖边界。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数据集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：OpenAlex（CC0）合法复用；闭源 API 的接口与降级逻辑均开源。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1A1F3A"/>
                </a:solidFill>
                <a:latin typeface="微软雅黑" panose="020B0503020204020204" charset="-122"/>
              </a:rPr>
              <a:t>Skill 生态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：核心 Skill 与 github.com/anbeime/skill 公开技能商店（</a:t>
            </a:r>
            <a:r>
              <a:rPr lang="en-US" altLang="zh-CN" sz="1500">
                <a:solidFill>
                  <a:srgbClr val="1A1F3A"/>
                </a:solidFill>
                <a:latin typeface="微软雅黑" panose="020B0503020204020204" charset="-122"/>
              </a:rPr>
              <a:t>5.1K stars)</a:t>
            </a:r>
            <a:r>
              <a:rPr lang="zh-CN" sz="1500">
                <a:solidFill>
                  <a:srgbClr val="1A1F3A"/>
                </a:solidFill>
                <a:latin typeface="微软雅黑" panose="020B0503020204020204" charset="-122"/>
              </a:rPr>
              <a:t>对齐，可被外部 Agent 直接复用。</a:t>
            </a:r>
            <a:endParaRPr lang="zh-CN" sz="15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566160" cy="27432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开源目标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92440" y="2377440"/>
            <a:ext cx="3291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300" b="0" i="0">
                <a:solidFill>
                  <a:srgbClr val="1A1F3A"/>
                </a:solidFill>
                <a:latin typeface="微软雅黑" panose="020B0503020204020204" charset="-122"/>
              </a:rPr>
              <a:t>把「多 AI 可审计记忆总线」做成标准件，而不是绑定在某个封闭产品里。</a:t>
            </a:r>
            <a:endParaRPr lang="zh-CN" sz="13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开放协议与可替换性是方案的核心壁垒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第七章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落地计划与进展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当前进展与整体可行性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—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第七章 · 对应「当前进展」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落地计划与进展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当前进展、里程碑与风险控制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423160" cy="173736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FF6B35"/>
                </a:solidFill>
                <a:latin typeface="微软雅黑" panose="020B0503020204020204" charset="-122"/>
              </a:rPr>
              <a:t>当前</a:t>
            </a:r>
            <a:endParaRPr lang="zh-CN" sz="15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FFFFFF"/>
                </a:solidFill>
                <a:latin typeface="微软雅黑" panose="020B0503020204020204" charset="-122"/>
              </a:rPr>
              <a:t>八署串连通跑
LLM 真实接入
4 核心 Skill 就绪（规划共 15）</a:t>
            </a:r>
            <a:endParaRPr lang="zh-CN" sz="120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2200" b="0" i="0">
                <a:solidFill>
                  <a:srgbClr val="FF6B35"/>
                </a:solidFill>
                <a:latin typeface="微软雅黑" panose="020B0503020204020204" charset="-122"/>
              </a:rPr>
              <a:t>→</a:t>
            </a:r>
            <a:endParaRPr lang="zh-CN" sz="22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423160" cy="173736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FF6B35"/>
                </a:solidFill>
                <a:latin typeface="微软雅黑" panose="020B0503020204020204" charset="-122"/>
              </a:rPr>
              <a:t>初赛 8/16</a:t>
            </a:r>
            <a:endParaRPr lang="zh-CN" sz="15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320" y="2578608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1A1F3A"/>
                </a:solidFill>
                <a:latin typeface="微软雅黑" panose="020B0503020204020204" charset="-122"/>
              </a:rPr>
              <a:t>方案 PPT + 作品简介
附件 ZIP 提交</a:t>
            </a:r>
            <a:endParaRPr lang="zh-CN" sz="12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89320" y="27432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2200" b="0" i="0">
                <a:solidFill>
                  <a:srgbClr val="FF6B35"/>
                </a:solidFill>
                <a:latin typeface="微软雅黑" panose="020B0503020204020204" charset="-122"/>
              </a:rPr>
              <a:t>→</a:t>
            </a:r>
            <a:endParaRPr lang="zh-CN" sz="22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423160" cy="173736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FF6B35"/>
                </a:solidFill>
                <a:latin typeface="微软雅黑" panose="020B0503020204020204" charset="-122"/>
              </a:rPr>
              <a:t>复赛 8/25</a:t>
            </a:r>
            <a:endParaRPr lang="zh-CN" sz="15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1A1F3A"/>
                </a:solidFill>
                <a:latin typeface="微软雅黑" panose="020B0503020204020204" charset="-122"/>
              </a:rPr>
              <a:t>可执行 AgentTeams 代码包
+ 完整 Demo</a:t>
            </a:r>
            <a:endParaRPr lang="zh-CN" sz="12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32520" y="27432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2200" b="0" i="0">
                <a:solidFill>
                  <a:srgbClr val="FF6B35"/>
                </a:solidFill>
                <a:latin typeface="微软雅黑" panose="020B0503020204020204" charset="-122"/>
              </a:rPr>
              <a:t>→</a:t>
            </a:r>
            <a:endParaRPr lang="zh-CN" sz="2200" b="0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52560" y="2011680"/>
            <a:ext cx="2423160" cy="173736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1488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500" b="1" i="0">
                <a:solidFill>
                  <a:srgbClr val="FF6B35"/>
                </a:solidFill>
                <a:latin typeface="微软雅黑" panose="020B0503020204020204" charset="-122"/>
              </a:rPr>
              <a:t>决赛 9/22</a:t>
            </a:r>
            <a:endParaRPr lang="zh-CN" sz="15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89720" y="2578608"/>
            <a:ext cx="2148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1A1F3A"/>
                </a:solidFill>
                <a:latin typeface="微软雅黑" panose="020B0503020204020204" charset="-122"/>
              </a:rPr>
              <a:t>杭州现场答辩
展示可运行闭环</a:t>
            </a:r>
            <a:endParaRPr lang="zh-CN" sz="1200" b="0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109728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当前进展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：八署 pipeline 可复现、verify PASS、真实本地 NPU 接入、Agent Identity / Skill / AgentTeams 映射文档齐备。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复赛目标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：迁移八署至 AgentTeams 运行时，接入 Higress / Nacos / PolarDB，完成代码仓库 PR/测试/发布完整闭环。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400" b="1">
                <a:solidFill>
                  <a:srgbClr val="1A1F3A"/>
                </a:solidFill>
                <a:latin typeface="微软雅黑" panose="020B0503020204020204" charset="-122"/>
              </a:rPr>
              <a:t>风险控制</a:t>
            </a:r>
            <a:r>
              <a:rPr lang="zh-CN" sz="1400">
                <a:solidFill>
                  <a:srgbClr val="1A1F3A"/>
                </a:solidFill>
                <a:latin typeface="微软雅黑" panose="020B0503020204020204" charset="-122"/>
              </a:rPr>
              <a:t>：初赛阶段诚实披露降级现状（解析预存全文模拟 7/10、代码仓库工具链复赛落地），避免粉饰。</a:t>
            </a:r>
            <a:endParaRPr lang="zh-CN" sz="140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从可运行方案到可执行代码包的演进路径清晰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1" i="0">
                <a:solidFill>
                  <a:srgbClr val="FF6B35"/>
                </a:solidFill>
                <a:latin typeface="微软雅黑" panose="020B0503020204020204" charset="-122"/>
              </a:rPr>
              <a:t>第八章</a:t>
            </a:r>
            <a:endParaRPr lang="zh-CN" sz="14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400" b="1" i="0">
                <a:solidFill>
                  <a:srgbClr val="1A1F3A"/>
                </a:solidFill>
                <a:latin typeface="微软雅黑" panose="020B0503020204020204" charset="-122"/>
              </a:rPr>
              <a:t>团队介绍</a:t>
            </a:r>
            <a:endParaRPr lang="zh-CN" sz="44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0" y="548640"/>
            <a:ext cx="3200400" cy="7772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6217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000" b="1" i="0">
                <a:solidFill>
                  <a:srgbClr val="FF6B35"/>
                </a:solidFill>
                <a:latin typeface="微软雅黑" panose="020B0503020204020204" charset="-122"/>
              </a:rPr>
              <a:t>对应评分维度</a:t>
            </a:r>
            <a:endParaRPr lang="zh-CN" sz="10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9640" y="896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1A1F3A"/>
                </a:solidFill>
                <a:latin typeface="微软雅黑" panose="020B0503020204020204" charset="-122"/>
              </a:rPr>
              <a:t>团队能力与执行可行性</a:t>
            </a:r>
            <a:endParaRPr lang="zh-CN" sz="1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881360" y="548640"/>
            <a:ext cx="7315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548640"/>
            <a:ext cx="731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sz="1800" b="1" i="0">
                <a:solidFill>
                  <a:srgbClr val="FFFFFF"/>
                </a:solidFill>
                <a:latin typeface="微软雅黑" panose="020B0503020204020204" charset="-122"/>
              </a:rPr>
              <a:t>—</a:t>
            </a:r>
            <a:endParaRPr lang="zh-CN"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Antinet·八官署 — GOAI 赛道一 Agent Infra 新智基座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 i="0">
                <a:solidFill>
                  <a:srgbClr val="FF6B35"/>
                </a:solidFill>
                <a:latin typeface="微软雅黑" panose="020B0503020204020204" charset="-122"/>
              </a:rPr>
              <a:t>第八章</a:t>
            </a:r>
            <a:endParaRPr lang="zh-CN" sz="12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3200" b="1" i="0">
                <a:solidFill>
                  <a:srgbClr val="1A1F3A"/>
                </a:solidFill>
                <a:latin typeface="微软雅黑" panose="020B0503020204020204" charset="-122"/>
              </a:rPr>
              <a:t>团队介绍</a:t>
            </a:r>
            <a:endParaRPr lang="zh-CN" sz="32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400" b="0" i="0">
                <a:solidFill>
                  <a:srgbClr val="5A5F73"/>
                </a:solidFill>
                <a:latin typeface="微软雅黑" panose="020B0503020204020204" charset="-122"/>
              </a:rPr>
              <a:t>TOPGO 智能体军团 · 核心团队</a:t>
            </a:r>
            <a:endParaRPr lang="zh-CN" sz="14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828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1A1F3A"/>
                </a:solidFill>
                <a:latin typeface="微软雅黑" panose="020B0503020204020204" charset="-122"/>
              </a:rPr>
              <a:t>团队定位</a:t>
            </a:r>
            <a:endParaRPr lang="zh-CN" sz="16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300" b="1" i="0">
                <a:solidFill>
                  <a:srgbClr val="FF6B35"/>
                </a:solidFill>
                <a:latin typeface="微软雅黑" panose="020B0503020204020204" charset="-122"/>
              </a:rPr>
              <a:t>一句话定位</a:t>
            </a:r>
            <a:endParaRPr lang="zh-CN" sz="13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一支在十余项顶级 AI 赛事中持续获胜的全栈实战军团，专注将前沿智能体技术转化为产业降本增效的确定解。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383280" cy="1828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1A1F3A"/>
                </a:solidFill>
                <a:latin typeface="微软雅黑" panose="020B0503020204020204" charset="-122"/>
              </a:rPr>
              <a:t>赛事信任状</a:t>
            </a:r>
            <a:endParaRPr lang="zh-CN" sz="16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300" b="1" i="0">
                <a:solidFill>
                  <a:srgbClr val="FF6B35"/>
                </a:solidFill>
                <a:latin typeface="微软雅黑" panose="020B0503020204020204" charset="-122"/>
              </a:rPr>
              <a:t>战绩与关键一役</a:t>
            </a:r>
            <a:endParaRPr lang="zh-CN" sz="13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303580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字节 / 百度 / 华为 / 英特尔 / 阿里等 12+ 顶级 AI 大赛获奖；2025 英特尔人工智能大赛（企业赛道）多智能体协同决策框架获“优胜奖”，印证处理高噪声、高不确定性问题的工程化能力。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383280" cy="1828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600" b="1" i="0">
                <a:solidFill>
                  <a:srgbClr val="1A1F3A"/>
                </a:solidFill>
                <a:latin typeface="微软雅黑" panose="020B0503020204020204" charset="-122"/>
              </a:rPr>
              <a:t>独特能力</a:t>
            </a:r>
            <a:endParaRPr lang="zh-CN" sz="1600" b="1" i="0">
              <a:solidFill>
                <a:srgbClr val="1A1F3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300" b="1" i="0">
                <a:solidFill>
                  <a:srgbClr val="FF6B35"/>
                </a:solidFill>
                <a:latin typeface="微软雅黑" panose="020B0503020204020204" charset="-122"/>
              </a:rPr>
              <a:t>全链路技术栈 + 核心资产</a:t>
            </a:r>
            <a:endParaRPr lang="zh-CN" sz="13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303580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0" i="0">
                <a:solidFill>
                  <a:srgbClr val="5A5F73"/>
                </a:solidFill>
                <a:latin typeface="微软雅黑" panose="020B0503020204020204" charset="-122"/>
              </a:rPr>
              <a:t>5 人核心团队覆盖架构-算法-工程-测试-部署；拥有经大赛淬炼的智能体协同调度中台与自动化任务分解引擎，可快速适配制造、运维、软件等领域流程自动化。</a:t>
            </a:r>
            <a:endParaRPr lang="zh-CN" sz="12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endParaRPr lang="zh-CN" sz="1300" b="0" i="1">
              <a:solidFill>
                <a:srgbClr val="5A5F7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5A5F73"/>
                </a:solidFill>
                <a:latin typeface="微软雅黑" panose="020B0503020204020204" charset="-122"/>
              </a:rPr>
              <a:t>团队是方案落地的最终执行者</a:t>
            </a:r>
            <a:endParaRPr lang="zh-CN" sz="900" b="0" i="0">
              <a:solidFill>
                <a:srgbClr val="5A5F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840480" cy="3840480"/>
          </a:xfrm>
          <a:prstGeom prst="ellipse">
            <a:avLst/>
          </a:prstGeom>
          <a:solidFill>
            <a:srgbClr val="25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4000" b="1" i="0">
                <a:solidFill>
                  <a:srgbClr val="FFFFFF"/>
                </a:solidFill>
                <a:latin typeface="微软雅黑" panose="020B0503020204020204" charset="-122"/>
              </a:rPr>
              <a:t>Demo 视频与提交信息</a:t>
            </a:r>
            <a:endParaRPr lang="zh-CN" sz="4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800" b="1" i="0">
                <a:solidFill>
                  <a:srgbClr val="FF6B35"/>
                </a:solidFill>
                <a:latin typeface="微软雅黑" panose="020B0503020204020204" charset="-122"/>
              </a:rPr>
              <a:t>docs/track1/Antinet_GOAI_track1_demo.mp4（45 秒，1080p）</a:t>
            </a:r>
            <a:endParaRPr lang="zh-CN" sz="1800" b="1" i="0">
              <a:solidFill>
                <a:srgbClr val="FF6B3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789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D2D7E6"/>
                </a:solidFill>
                <a:latin typeface="微软雅黑" panose="020B0503020204020204" charset="-122"/>
              </a:rPr>
              <a:t>作品名</a:t>
            </a:r>
            <a:r>
              <a:rPr lang="zh-CN" sz="1500">
                <a:solidFill>
                  <a:srgbClr val="D2D7E6"/>
                </a:solidFill>
                <a:latin typeface="微软雅黑" panose="020B0503020204020204" charset="-122"/>
              </a:rPr>
              <a:t>：Antinet·八官署（软件研发全流程协同 · 多 AI 知识库中间层）</a:t>
            </a:r>
            <a:endParaRPr lang="zh-CN" sz="1500">
              <a:solidFill>
                <a:srgbClr val="D2D7E6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D2D7E6"/>
                </a:solidFill>
                <a:latin typeface="微软雅黑" panose="020B0503020204020204" charset="-122"/>
              </a:rPr>
              <a:t>赛道</a:t>
            </a:r>
            <a:r>
              <a:rPr lang="zh-CN" sz="1500">
                <a:solidFill>
                  <a:srgbClr val="D2D7E6"/>
                </a:solidFill>
                <a:latin typeface="微软雅黑" panose="020B0503020204020204" charset="-122"/>
              </a:rPr>
              <a:t>：GOAI 赛道一 · Agent Infra 新智基座 · 方向三「软件研发全流程协同」</a:t>
            </a:r>
            <a:endParaRPr lang="zh-CN" sz="1500">
              <a:solidFill>
                <a:srgbClr val="D2D7E6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D2D7E6"/>
                </a:solidFill>
                <a:latin typeface="微软雅黑" panose="020B0503020204020204" charset="-122"/>
              </a:rPr>
              <a:t>开源仓库</a:t>
            </a:r>
            <a:r>
              <a:rPr lang="zh-CN" sz="1500">
                <a:solidFill>
                  <a:srgbClr val="D2D7E6"/>
                </a:solidFill>
                <a:latin typeface="微软雅黑" panose="020B0503020204020204" charset="-122"/>
              </a:rPr>
              <a:t>：materials-agent/（Apache 2.0）+ github.com/anbeime/skill 公开技能商店</a:t>
            </a:r>
            <a:endParaRPr lang="zh-CN" sz="1500">
              <a:solidFill>
                <a:srgbClr val="D2D7E6"/>
              </a:solidFill>
              <a:latin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sz="1500" b="1">
                <a:solidFill>
                  <a:srgbClr val="D2D7E6"/>
                </a:solidFill>
                <a:latin typeface="微软雅黑" panose="020B0503020204020204" charset="-122"/>
              </a:rPr>
              <a:t>Demo 入口</a:t>
            </a:r>
            <a:r>
              <a:rPr lang="zh-CN" sz="1500">
                <a:solidFill>
                  <a:srgbClr val="D2D7E6"/>
                </a:solidFill>
                <a:latin typeface="微软雅黑" panose="020B0503020204020204" charset="-122"/>
              </a:rPr>
              <a:t>：scripts/run_survey.py 主链路 + verify_production.py CI 可复现</a:t>
            </a:r>
            <a:endParaRPr lang="zh-CN" sz="1500">
              <a:solidFill>
                <a:srgbClr val="D2D7E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900" b="0" i="0">
                <a:solidFill>
                  <a:srgbClr val="A0A5B9"/>
                </a:solidFill>
                <a:latin typeface="微软雅黑" panose="020B0503020204020204" charset="-122"/>
              </a:rPr>
              <a:t>八官署证明：多智能体的价值不在参数规模，而在职责隔离与可追溯</a:t>
            </a:r>
            <a:endParaRPr lang="zh-CN" sz="900" b="0" i="0">
              <a:solidFill>
                <a:srgbClr val="A0A5B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4945</Words>
  <Application>WPS 演示</Application>
  <PresentationFormat>On-screen Show (4:3)</PresentationFormat>
  <Paragraphs>456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仰钿</cp:lastModifiedBy>
  <cp:revision>2</cp:revision>
  <dcterms:created xsi:type="dcterms:W3CDTF">2013-01-27T09:14:00Z</dcterms:created>
  <dcterms:modified xsi:type="dcterms:W3CDTF">2026-08-11T15:47:49Z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C2D7F772010846DBA8E8E14CDA58B825_12</vt:lpwstr>
  </property>
</Properties>
</file>